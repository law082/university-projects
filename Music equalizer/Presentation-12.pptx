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8DE7C-7557-48EE-8FA5-7251611F5277}" v="210" dt="2023-05-23T15:45:58.223"/>
    <p1510:client id="{E2E9D506-3AD6-4E66-A2F5-C8CB518A4BD4}" v="364" dt="2023-05-24T09:54:35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8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Chart&#10;&#10;Description automatically generated">
            <a:extLst>
              <a:ext uri="{FF2B5EF4-FFF2-40B4-BE49-F238E27FC236}">
                <a16:creationId xmlns:a16="http://schemas.microsoft.com/office/drawing/2014/main" id="{F52273D9-4325-A756-F0AA-A92D760DBE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89" t="8532" r="26544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cs typeface="Calibri Light"/>
              </a:rPr>
              <a:t>Audio </a:t>
            </a:r>
            <a:r>
              <a:rPr lang="en-US" sz="4800" dirty="0" err="1">
                <a:cs typeface="Calibri Light"/>
              </a:rPr>
              <a:t>Vizualizer</a:t>
            </a:r>
            <a:r>
              <a:rPr lang="en-US" sz="4800" dirty="0">
                <a:cs typeface="Calibri Light"/>
              </a:rPr>
              <a:t>/</a:t>
            </a:r>
            <a:br>
              <a:rPr lang="en-US" sz="4800" dirty="0">
                <a:cs typeface="Calibri Light"/>
              </a:rPr>
            </a:br>
            <a:r>
              <a:rPr lang="en-US" sz="4800" dirty="0">
                <a:cs typeface="Calibri Light"/>
              </a:rPr>
              <a:t>Equalizer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>
                <a:cs typeface="Calibri"/>
              </a:rPr>
              <a:t>Condrea Laurentiu-Daniel</a:t>
            </a:r>
          </a:p>
          <a:p>
            <a:pPr algn="l"/>
            <a:r>
              <a:rPr lang="en-US" sz="2000" dirty="0">
                <a:cs typeface="Calibri"/>
              </a:rPr>
              <a:t>4LF811</a:t>
            </a:r>
          </a:p>
          <a:p>
            <a:pPr algn="l"/>
            <a:r>
              <a:rPr lang="en-US" sz="2000" dirty="0" err="1">
                <a:solidFill>
                  <a:srgbClr val="FFFFFF"/>
                </a:solidFill>
                <a:cs typeface="Calibri"/>
              </a:rPr>
              <a:t>Microcontrolere</a:t>
            </a:r>
            <a:r>
              <a:rPr lang="en-US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cs typeface="Calibri"/>
              </a:rPr>
              <a:t>si</a:t>
            </a:r>
            <a:r>
              <a:rPr lang="en-US" sz="2000" dirty="0">
                <a:solidFill>
                  <a:srgbClr val="FFFFFF"/>
                </a:solidFill>
                <a:cs typeface="Calibri"/>
              </a:rPr>
              <a:t> </a:t>
            </a:r>
            <a:r>
              <a:rPr lang="en-US" sz="2000" dirty="0" err="1">
                <a:solidFill>
                  <a:srgbClr val="FFFFFF"/>
                </a:solidFill>
                <a:cs typeface="Calibri"/>
              </a:rPr>
              <a:t>Microprocesoare</a:t>
            </a:r>
            <a:endParaRPr lang="en-US" sz="2000" dirty="0">
              <a:solidFill>
                <a:srgbClr val="FFFFFF"/>
              </a:solidFill>
              <a:cs typeface="Calibri"/>
            </a:endParaRPr>
          </a:p>
          <a:p>
            <a:pPr algn="l"/>
            <a:endParaRPr lang="en-US" sz="2000" dirty="0">
              <a:cs typeface="Calibri"/>
            </a:endParaRPr>
          </a:p>
          <a:p>
            <a:pPr algn="l"/>
            <a:endParaRPr lang="en-US" sz="2000" dirty="0"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2" name="Freeform: Shape 8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4" name="Freeform: Shape 8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Title 1">
            <a:extLst>
              <a:ext uri="{FF2B5EF4-FFF2-40B4-BE49-F238E27FC236}">
                <a16:creationId xmlns:a16="http://schemas.microsoft.com/office/drawing/2014/main" id="{D221FB6B-8DF6-1A41-20E6-788A11B54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74228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>
                <a:cs typeface="Calibri Light"/>
              </a:rPr>
              <a:t>Scop</a:t>
            </a:r>
            <a:endParaRPr lang="en-US" sz="4800" kern="1200" dirty="0">
              <a:latin typeface="+mj-lt"/>
              <a:cs typeface="Calibri Light"/>
            </a:endParaRPr>
          </a:p>
        </p:txBody>
      </p:sp>
      <p:sp>
        <p:nvSpPr>
          <p:cNvPr id="65" name="Content Placeholder 13">
            <a:extLst>
              <a:ext uri="{FF2B5EF4-FFF2-40B4-BE49-F238E27FC236}">
                <a16:creationId xmlns:a16="http://schemas.microsoft.com/office/drawing/2014/main" id="{79D3F7DF-4312-972D-2AF0-C869BFC79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519" y="1981230"/>
            <a:ext cx="3933306" cy="40998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kern="1200" dirty="0" err="1">
                <a:latin typeface="+mn-lt"/>
                <a:ea typeface="+mn-ea"/>
                <a:cs typeface="+mn-cs"/>
              </a:rPr>
              <a:t>Muzica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 </a:t>
            </a:r>
            <a:r>
              <a:rPr lang="en-US" sz="2000" kern="1200" dirty="0" err="1">
                <a:latin typeface="+mn-lt"/>
                <a:ea typeface="+mn-ea"/>
                <a:cs typeface="+mn-cs"/>
              </a:rPr>
              <a:t>este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 un "</a:t>
            </a:r>
            <a:r>
              <a:rPr lang="en-US" sz="2000" kern="1200" dirty="0" err="1">
                <a:latin typeface="+mn-lt"/>
                <a:ea typeface="+mn-ea"/>
                <a:cs typeface="+mn-cs"/>
              </a:rPr>
              <a:t>zgomot</a:t>
            </a:r>
            <a:r>
              <a:rPr lang="en-US" sz="2000" kern="1200" dirty="0">
                <a:latin typeface="+mn-lt"/>
                <a:ea typeface="+mn-ea"/>
                <a:cs typeface="+mn-cs"/>
              </a:rPr>
              <a:t>" </a:t>
            </a:r>
            <a:r>
              <a:rPr lang="en-US" sz="2000" dirty="0"/>
              <a:t>pe care il </a:t>
            </a:r>
            <a:r>
              <a:rPr lang="en-US" sz="2000" dirty="0" err="1"/>
              <a:t>ascultam</a:t>
            </a:r>
            <a:r>
              <a:rPr lang="en-US" sz="2000" dirty="0"/>
              <a:t> </a:t>
            </a:r>
            <a:r>
              <a:rPr lang="en-US" sz="2000" dirty="0" err="1"/>
              <a:t>majoritatea</a:t>
            </a:r>
            <a:r>
              <a:rPr lang="en-US" sz="2000" dirty="0"/>
              <a:t> </a:t>
            </a:r>
            <a:r>
              <a:rPr lang="en-US" sz="2000" dirty="0" err="1"/>
              <a:t>timpului</a:t>
            </a:r>
            <a:r>
              <a:rPr lang="en-US" sz="2000" dirty="0"/>
              <a:t>.</a:t>
            </a:r>
            <a:endParaRPr lang="en-US" sz="2000" dirty="0">
              <a:cs typeface="Calibri"/>
            </a:endParaRPr>
          </a:p>
          <a:p>
            <a:pPr marL="0" indent="0">
              <a:buNone/>
            </a:pPr>
            <a:r>
              <a:rPr lang="en-US" sz="2000" dirty="0">
                <a:cs typeface="Calibri"/>
              </a:rPr>
              <a:t>Cu </a:t>
            </a:r>
            <a:r>
              <a:rPr lang="en-US" sz="2000" dirty="0" err="1">
                <a:cs typeface="Calibri"/>
              </a:rPr>
              <a:t>ajutorul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 err="1">
                <a:cs typeface="Calibri"/>
              </a:rPr>
              <a:t>unui</a:t>
            </a:r>
            <a:r>
              <a:rPr lang="en-US" sz="2000" dirty="0">
                <a:cs typeface="Calibri"/>
              </a:rPr>
              <a:t> audio </a:t>
            </a:r>
            <a:r>
              <a:rPr lang="en-US" sz="2000" dirty="0" err="1">
                <a:cs typeface="Calibri"/>
              </a:rPr>
              <a:t>vizualizer</a:t>
            </a:r>
            <a:r>
              <a:rPr lang="en-US" sz="2000" dirty="0">
                <a:cs typeface="Calibri"/>
              </a:rPr>
              <a:t> </a:t>
            </a:r>
            <a:r>
              <a:rPr lang="en-US" sz="2000" dirty="0" err="1">
                <a:cs typeface="Calibri"/>
              </a:rPr>
              <a:t>putem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 err="1">
                <a:cs typeface="Calibri"/>
              </a:rPr>
              <a:t>observa</a:t>
            </a:r>
            <a:r>
              <a:rPr lang="en-US" sz="2000" dirty="0">
                <a:cs typeface="Calibri"/>
              </a:rPr>
              <a:t> pe </a:t>
            </a:r>
            <a:r>
              <a:rPr lang="en-US" sz="2000" dirty="0" err="1">
                <a:cs typeface="Calibri"/>
              </a:rPr>
              <a:t>coloane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 err="1">
                <a:cs typeface="Calibri"/>
              </a:rPr>
              <a:t>amplitudinea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 err="1">
                <a:cs typeface="Calibri"/>
              </a:rPr>
              <a:t>atinsa</a:t>
            </a:r>
            <a:r>
              <a:rPr lang="en-US" sz="2000" dirty="0">
                <a:cs typeface="Calibri"/>
              </a:rPr>
              <a:t> in </a:t>
            </a:r>
            <a:r>
              <a:rPr lang="en-US" sz="2000" dirty="0" err="1">
                <a:cs typeface="Calibri"/>
              </a:rPr>
              <a:t>raport</a:t>
            </a:r>
            <a:r>
              <a:rPr lang="en-US" sz="2000" dirty="0">
                <a:cs typeface="Calibri"/>
              </a:rPr>
              <a:t> cu </a:t>
            </a:r>
            <a:r>
              <a:rPr lang="en-US" sz="2000" dirty="0" err="1">
                <a:cs typeface="Calibri"/>
              </a:rPr>
              <a:t>timpul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 err="1">
                <a:cs typeface="Calibri"/>
              </a:rPr>
              <a:t>sau</a:t>
            </a:r>
            <a:r>
              <a:rPr lang="en-US" sz="2000" dirty="0">
                <a:cs typeface="Calibri"/>
              </a:rPr>
              <a:t> in </a:t>
            </a:r>
            <a:r>
              <a:rPr lang="en-US" sz="2000" dirty="0" err="1">
                <a:cs typeface="Calibri"/>
              </a:rPr>
              <a:t>raport</a:t>
            </a:r>
            <a:r>
              <a:rPr lang="en-US" sz="2000" dirty="0">
                <a:cs typeface="Calibri"/>
              </a:rPr>
              <a:t> cu </a:t>
            </a:r>
            <a:r>
              <a:rPr lang="en-US" sz="2000" dirty="0" err="1">
                <a:cs typeface="Calibri"/>
              </a:rPr>
              <a:t>frecventa</a:t>
            </a:r>
            <a:r>
              <a:rPr lang="en-US" sz="2000" dirty="0">
                <a:cs typeface="Calibri"/>
              </a:rPr>
              <a:t>(</a:t>
            </a:r>
            <a:r>
              <a:rPr lang="en-US" sz="2000" dirty="0" err="1">
                <a:cs typeface="Calibri"/>
              </a:rPr>
              <a:t>daca</a:t>
            </a:r>
            <a:r>
              <a:rPr lang="en-US" sz="2000" dirty="0">
                <a:cs typeface="Calibri"/>
              </a:rPr>
              <a:t> se </a:t>
            </a:r>
            <a:r>
              <a:rPr lang="en-US" sz="2000" dirty="0" err="1">
                <a:cs typeface="Calibri"/>
              </a:rPr>
              <a:t>aplica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 err="1">
                <a:cs typeface="Calibri"/>
              </a:rPr>
              <a:t>transformata</a:t>
            </a:r>
            <a:r>
              <a:rPr lang="en-US" sz="2000" dirty="0">
                <a:cs typeface="Calibri"/>
              </a:rPr>
              <a:t> Fourier).</a:t>
            </a:r>
            <a:endParaRPr lang="en-US" sz="2000" kern="1200" dirty="0">
              <a:latin typeface="+mn-lt"/>
              <a:cs typeface="Calibri"/>
            </a:endParaRPr>
          </a:p>
          <a:p>
            <a:pPr marL="0" indent="0">
              <a:buNone/>
            </a:pPr>
            <a:endParaRPr lang="en-US" sz="2000" dirty="0">
              <a:cs typeface="Calibri"/>
            </a:endParaRPr>
          </a:p>
          <a:p>
            <a:pPr marL="0" indent="0">
              <a:buNone/>
            </a:pPr>
            <a:endParaRPr lang="en-US" sz="2000" dirty="0">
              <a:cs typeface="Calibri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10" descr="Timeline&#10;&#10;Description automatically generated">
            <a:extLst>
              <a:ext uri="{FF2B5EF4-FFF2-40B4-BE49-F238E27FC236}">
                <a16:creationId xmlns:a16="http://schemas.microsoft.com/office/drawing/2014/main" id="{4B5C3E79-74B9-956B-74A1-12A12B5DD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550889"/>
            <a:ext cx="6408836" cy="360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41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873EA6-3198-8D38-B053-B90EB2895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latin typeface="+mj-lt"/>
                <a:ea typeface="+mj-ea"/>
                <a:cs typeface="+mj-cs"/>
              </a:rPr>
              <a:t>Diagrama</a:t>
            </a:r>
          </a:p>
        </p:txBody>
      </p:sp>
      <p:pic>
        <p:nvPicPr>
          <p:cNvPr id="4" name="Picture 4" descr="A picture containing text, electronics&#10;&#10;Description automatically generated">
            <a:extLst>
              <a:ext uri="{FF2B5EF4-FFF2-40B4-BE49-F238E27FC236}">
                <a16:creationId xmlns:a16="http://schemas.microsoft.com/office/drawing/2014/main" id="{76070D4B-6947-9D24-5826-FB01614EF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504" y="918640"/>
            <a:ext cx="3797417" cy="4589025"/>
          </a:xfrm>
          <a:prstGeom prst="rect">
            <a:avLst/>
          </a:prstGeom>
        </p:spPr>
      </p:pic>
      <p:sp>
        <p:nvSpPr>
          <p:cNvPr id="37" name="Content Placeholder 36">
            <a:extLst>
              <a:ext uri="{FF2B5EF4-FFF2-40B4-BE49-F238E27FC236}">
                <a16:creationId xmlns:a16="http://schemas.microsoft.com/office/drawing/2014/main" id="{59F8926B-59D6-09F7-2839-F978DD959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r>
              <a:rPr lang="en-US" sz="2000" dirty="0">
                <a:cs typeface="Calibri"/>
              </a:rPr>
              <a:t>Ledul matrix are </a:t>
            </a:r>
            <a:r>
              <a:rPr lang="en-US" sz="2000" err="1">
                <a:cs typeface="Calibri"/>
              </a:rPr>
              <a:t>inputul</a:t>
            </a:r>
            <a:r>
              <a:rPr lang="en-US" sz="2000" dirty="0">
                <a:cs typeface="Calibri"/>
              </a:rPr>
              <a:t> </a:t>
            </a:r>
            <a:r>
              <a:rPr lang="en-US" sz="2000" err="1">
                <a:cs typeface="Calibri"/>
              </a:rPr>
              <a:t>intr</a:t>
            </a:r>
            <a:r>
              <a:rPr lang="en-US" sz="2000" dirty="0">
                <a:cs typeface="Calibri"/>
              </a:rPr>
              <a:t> o </a:t>
            </a:r>
            <a:r>
              <a:rPr lang="en-US" sz="2000" err="1">
                <a:cs typeface="Calibri"/>
              </a:rPr>
              <a:t>parte</a:t>
            </a:r>
            <a:r>
              <a:rPr lang="en-US" sz="2000" dirty="0">
                <a:cs typeface="Calibri"/>
              </a:rPr>
              <a:t> </a:t>
            </a:r>
            <a:r>
              <a:rPr lang="en-US" sz="2000" err="1">
                <a:cs typeface="Calibri"/>
              </a:rPr>
              <a:t>iar</a:t>
            </a:r>
            <a:r>
              <a:rPr lang="en-US" sz="2000" dirty="0">
                <a:cs typeface="Calibri"/>
              </a:rPr>
              <a:t> output-</a:t>
            </a:r>
            <a:r>
              <a:rPr lang="en-US" sz="2000" err="1">
                <a:cs typeface="Calibri"/>
              </a:rPr>
              <a:t>ul</a:t>
            </a:r>
            <a:r>
              <a:rPr lang="en-US" sz="2000" dirty="0">
                <a:cs typeface="Calibri"/>
              </a:rPr>
              <a:t> in </a:t>
            </a:r>
            <a:r>
              <a:rPr lang="en-US" sz="2000" err="1">
                <a:cs typeface="Calibri"/>
              </a:rPr>
              <a:t>cealalta.Este</a:t>
            </a:r>
            <a:r>
              <a:rPr lang="en-US" sz="2000" dirty="0">
                <a:cs typeface="Calibri"/>
              </a:rPr>
              <a:t> </a:t>
            </a:r>
            <a:r>
              <a:rPr lang="en-US" sz="2000" err="1">
                <a:cs typeface="Calibri"/>
              </a:rPr>
              <a:t>conectat</a:t>
            </a:r>
            <a:r>
              <a:rPr lang="en-US" sz="2000" dirty="0">
                <a:cs typeface="Calibri"/>
              </a:rPr>
              <a:t> la </a:t>
            </a:r>
            <a:r>
              <a:rPr lang="en-US" sz="2000" err="1">
                <a:cs typeface="Calibri"/>
              </a:rPr>
              <a:t>placa</a:t>
            </a:r>
            <a:r>
              <a:rPr lang="en-US" sz="2000" dirty="0">
                <a:cs typeface="Calibri"/>
              </a:rPr>
              <a:t> </a:t>
            </a:r>
            <a:r>
              <a:rPr lang="en-US" sz="2000" err="1">
                <a:cs typeface="Calibri"/>
              </a:rPr>
              <a:t>arduino</a:t>
            </a:r>
            <a:r>
              <a:rPr lang="en-US" sz="2000" dirty="0">
                <a:cs typeface="Calibri"/>
              </a:rPr>
              <a:t> cu </a:t>
            </a:r>
            <a:r>
              <a:rPr lang="en-US" sz="2000" err="1">
                <a:cs typeface="Calibri"/>
              </a:rPr>
              <a:t>pinii</a:t>
            </a:r>
            <a:r>
              <a:rPr lang="en-US" sz="2000" dirty="0">
                <a:cs typeface="Calibri"/>
              </a:rPr>
              <a:t> </a:t>
            </a:r>
            <a:r>
              <a:rPr lang="en-US" sz="2000" err="1">
                <a:cs typeface="Calibri"/>
              </a:rPr>
              <a:t>default:LATCH</a:t>
            </a:r>
            <a:r>
              <a:rPr lang="en-US" sz="2000" dirty="0">
                <a:cs typeface="Calibri"/>
              </a:rPr>
              <a:t>(SS)-D4,DATA(MOSI)-D6,CLOCK-D5</a:t>
            </a:r>
          </a:p>
          <a:p>
            <a:r>
              <a:rPr lang="en-US" sz="2000" dirty="0">
                <a:cs typeface="Calibri"/>
              </a:rPr>
              <a:t>Ledul </a:t>
            </a:r>
            <a:r>
              <a:rPr lang="en-US" sz="2000" dirty="0" err="1">
                <a:cs typeface="Calibri"/>
              </a:rPr>
              <a:t>si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 err="1">
                <a:cs typeface="Calibri"/>
              </a:rPr>
              <a:t>microfonul</a:t>
            </a:r>
            <a:r>
              <a:rPr lang="en-US" sz="2000" dirty="0">
                <a:cs typeface="Calibri"/>
              </a:rPr>
              <a:t> sunt </a:t>
            </a:r>
            <a:r>
              <a:rPr lang="en-US" sz="2000" dirty="0" err="1">
                <a:cs typeface="Calibri"/>
              </a:rPr>
              <a:t>conectati</a:t>
            </a:r>
            <a:r>
              <a:rPr lang="en-US" sz="2000" dirty="0">
                <a:cs typeface="Calibri"/>
              </a:rPr>
              <a:t> la 5V</a:t>
            </a:r>
          </a:p>
          <a:p>
            <a:r>
              <a:rPr lang="en-US" sz="2000" dirty="0">
                <a:cs typeface="Calibri"/>
              </a:rPr>
              <a:t>Ledul matrix </a:t>
            </a:r>
            <a:r>
              <a:rPr lang="en-US" sz="2000" dirty="0" err="1">
                <a:cs typeface="Calibri"/>
              </a:rPr>
              <a:t>poate</a:t>
            </a:r>
            <a:r>
              <a:rPr lang="en-US" sz="2000" dirty="0">
                <a:cs typeface="Calibri"/>
              </a:rPr>
              <a:t> fi </a:t>
            </a:r>
            <a:r>
              <a:rPr lang="en-US" sz="2000" dirty="0" err="1">
                <a:cs typeface="Calibri"/>
              </a:rPr>
              <a:t>conectat</a:t>
            </a:r>
            <a:r>
              <a:rPr lang="en-US" sz="2000" dirty="0">
                <a:cs typeface="Calibri"/>
              </a:rPr>
              <a:t> in lant cu </a:t>
            </a:r>
            <a:r>
              <a:rPr lang="en-US" sz="2000" dirty="0" err="1">
                <a:cs typeface="Calibri"/>
              </a:rPr>
              <a:t>alte</a:t>
            </a:r>
            <a:r>
              <a:rPr lang="en-US" sz="2000" dirty="0">
                <a:cs typeface="Calibri"/>
              </a:rPr>
              <a:t> led </a:t>
            </a:r>
            <a:r>
              <a:rPr lang="en-US" sz="2000" dirty="0" err="1">
                <a:cs typeface="Calibri"/>
              </a:rPr>
              <a:t>matrixuri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 err="1">
                <a:cs typeface="Calibri"/>
              </a:rPr>
              <a:t>identice</a:t>
            </a:r>
            <a:r>
              <a:rPr lang="en-US" sz="2000" dirty="0">
                <a:cs typeface="Calibri"/>
              </a:rPr>
              <a:t>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92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 picture containing text, blackboard&#10;&#10;Description automatically generated">
            <a:extLst>
              <a:ext uri="{FF2B5EF4-FFF2-40B4-BE49-F238E27FC236}">
                <a16:creationId xmlns:a16="http://schemas.microsoft.com/office/drawing/2014/main" id="{5EDA1AAD-4371-9CDE-2A8E-92ECED26B9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b="1000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380A4E-EB42-0A87-ACBA-080222545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cs typeface="Calibri Light"/>
              </a:rPr>
              <a:t>Transformata Fourier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54F753-3D27-D8FB-48A4-3DFC5DDA7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E8EAED"/>
                </a:solidFill>
                <a:cs typeface="Calibri"/>
              </a:rPr>
              <a:t>-Este o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operatie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care se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aplica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unei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functii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complexe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si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produce o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alta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functie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complexa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care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contine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aceeasi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informatie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ca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functia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originala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,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dar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reorganizata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dupa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frecventele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componente</a:t>
            </a:r>
            <a:endParaRPr lang="en-US" sz="2000">
              <a:solidFill>
                <a:srgbClr val="E8EAED"/>
              </a:solidFill>
              <a:cs typeface="Calibri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E8EAED"/>
                </a:solidFill>
                <a:cs typeface="Calibri"/>
              </a:rPr>
              <a:t>-Cu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ajutorul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acestei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transformate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putem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converta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semnalele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de la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microfon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 in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frecventa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raportate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 la </a:t>
            </a:r>
            <a:r>
              <a:rPr lang="en-US" sz="2000" err="1">
                <a:solidFill>
                  <a:srgbClr val="E8EAED"/>
                </a:solidFill>
                <a:cs typeface="Calibri"/>
              </a:rPr>
              <a:t>amplitudine</a:t>
            </a:r>
            <a:r>
              <a:rPr lang="en-US" sz="2000" dirty="0">
                <a:solidFill>
                  <a:srgbClr val="E8EAED"/>
                </a:solidFill>
                <a:cs typeface="Calibri"/>
              </a:rPr>
              <a:t>.</a:t>
            </a:r>
          </a:p>
          <a:p>
            <a:pPr marL="0" indent="0">
              <a:buNone/>
            </a:pPr>
            <a:endParaRPr lang="en-US" sz="2000" dirty="0">
              <a:solidFill>
                <a:srgbClr val="E8EAED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43004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1F35D41A-C4CB-3421-5204-7A61334A4D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091" r="23289"/>
          <a:stretch/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9F95F-FBBD-EE6C-91E7-E48C08D5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>
                <a:cs typeface="Calibri Light"/>
              </a:rPr>
              <a:t>Probleme intalnite</a:t>
            </a:r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2F7017-060E-ED4F-098D-1F8E615D2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 err="1">
                <a:cs typeface="Calibri"/>
              </a:rPr>
              <a:t>Microfonul</a:t>
            </a:r>
            <a:r>
              <a:rPr lang="en-US" sz="1700" dirty="0">
                <a:cs typeface="Calibri"/>
              </a:rPr>
              <a:t> nu </a:t>
            </a:r>
            <a:r>
              <a:rPr lang="en-US" sz="1700" dirty="0" err="1">
                <a:cs typeface="Calibri"/>
              </a:rPr>
              <a:t>este</a:t>
            </a:r>
            <a:r>
              <a:rPr lang="en-US" sz="1700" dirty="0">
                <a:cs typeface="Calibri"/>
              </a:rPr>
              <a:t> </a:t>
            </a:r>
            <a:r>
              <a:rPr lang="en-US" sz="1700" dirty="0" err="1">
                <a:cs typeface="Calibri"/>
              </a:rPr>
              <a:t>sensibil</a:t>
            </a:r>
            <a:r>
              <a:rPr lang="en-US" sz="1700" dirty="0">
                <a:cs typeface="Calibri"/>
              </a:rPr>
              <a:t> </a:t>
            </a:r>
            <a:r>
              <a:rPr lang="en-US" sz="1700" dirty="0" err="1">
                <a:cs typeface="Calibri"/>
              </a:rPr>
              <a:t>deloc</a:t>
            </a:r>
            <a:r>
              <a:rPr lang="en-US" sz="1700" dirty="0">
                <a:cs typeface="Calibri"/>
              </a:rPr>
              <a:t>.</a:t>
            </a:r>
          </a:p>
          <a:p>
            <a:r>
              <a:rPr lang="en-US" sz="1700" dirty="0" err="1">
                <a:cs typeface="Calibri"/>
              </a:rPr>
              <a:t>Gasirea</a:t>
            </a:r>
            <a:r>
              <a:rPr lang="en-US" sz="1700" dirty="0">
                <a:cs typeface="Calibri"/>
              </a:rPr>
              <a:t> </a:t>
            </a:r>
            <a:r>
              <a:rPr lang="en-US" sz="1700" dirty="0" err="1">
                <a:cs typeface="Calibri"/>
              </a:rPr>
              <a:t>libraririlor</a:t>
            </a:r>
            <a:r>
              <a:rPr lang="en-US" sz="1700" dirty="0">
                <a:cs typeface="Calibri"/>
              </a:rPr>
              <a:t> </a:t>
            </a:r>
            <a:r>
              <a:rPr lang="en-US" sz="1700" dirty="0" err="1">
                <a:cs typeface="Calibri"/>
              </a:rPr>
              <a:t>corecte</a:t>
            </a:r>
            <a:r>
              <a:rPr lang="en-US" sz="1700" dirty="0">
                <a:cs typeface="Calibri"/>
              </a:rPr>
              <a:t> </a:t>
            </a:r>
            <a:r>
              <a:rPr lang="en-US" sz="1700" dirty="0" err="1">
                <a:cs typeface="Calibri"/>
              </a:rPr>
              <a:t>pentru</a:t>
            </a:r>
            <a:r>
              <a:rPr lang="en-US" sz="1700" dirty="0">
                <a:cs typeface="Calibri"/>
              </a:rPr>
              <a:t> </a:t>
            </a:r>
            <a:r>
              <a:rPr lang="en-US" sz="1700" dirty="0" err="1">
                <a:cs typeface="Calibri"/>
              </a:rPr>
              <a:t>ledmatrix</a:t>
            </a:r>
            <a:r>
              <a:rPr lang="en-US" sz="1700" dirty="0">
                <a:cs typeface="Calibri"/>
              </a:rPr>
              <a:t>.</a:t>
            </a:r>
          </a:p>
          <a:p>
            <a:r>
              <a:rPr lang="en-US" sz="1700" dirty="0" err="1">
                <a:cs typeface="Calibri"/>
              </a:rPr>
              <a:t>Transformarea</a:t>
            </a:r>
            <a:r>
              <a:rPr lang="en-US" sz="1700">
                <a:cs typeface="Calibri"/>
              </a:rPr>
              <a:t> Fourier.</a:t>
            </a:r>
            <a:endParaRPr lang="en-US" sz="1700" dirty="0">
              <a:cs typeface="Calibri"/>
            </a:endParaRPr>
          </a:p>
          <a:p>
            <a:endParaRPr lang="en-US" sz="1700" dirty="0" err="1">
              <a:cs typeface="Calibri"/>
            </a:endParaRPr>
          </a:p>
          <a:p>
            <a:endParaRPr lang="en-US" sz="1700" dirty="0">
              <a:cs typeface="Calibri"/>
            </a:endParaRPr>
          </a:p>
          <a:p>
            <a:endParaRPr lang="en-US" sz="17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5033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172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Audio Vizualizer/ Equalizer</vt:lpstr>
      <vt:lpstr>Scop</vt:lpstr>
      <vt:lpstr>Diagrama</vt:lpstr>
      <vt:lpstr>Transformata Fourier</vt:lpstr>
      <vt:lpstr>Probleme intalnite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Laurentiu Condrea</cp:lastModifiedBy>
  <cp:revision>158</cp:revision>
  <dcterms:created xsi:type="dcterms:W3CDTF">2023-05-23T14:10:47Z</dcterms:created>
  <dcterms:modified xsi:type="dcterms:W3CDTF">2023-05-24T11:23:10Z</dcterms:modified>
</cp:coreProperties>
</file>