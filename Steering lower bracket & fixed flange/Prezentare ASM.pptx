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29242-0BD5-2026-8CC8-6F91584F826B}" v="563" dt="2026-01-12T12:16:13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4E7B1-A277-F224-E137-251715E0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2" r="-1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/>
              <a:t>Proiect ASM:</a:t>
            </a:r>
            <a:br>
              <a:rPr lang="en-US" sz="5200"/>
            </a:br>
            <a:r>
              <a:rPr lang="en-US" sz="5200"/>
              <a:t>Steering lower bracket &amp; fixed flange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 err="1"/>
              <a:t>Realizat</a:t>
            </a:r>
            <a:r>
              <a:rPr lang="en-US" dirty="0"/>
              <a:t> de : Condrea Laurentiu Daniel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15219-DC43-E1A8-DC61-4AE7686D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Scopul Analizei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6723-83A9-37E8-864E-D9EF515A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Evaluarea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comportamentului</a:t>
            </a:r>
            <a:r>
              <a:rPr lang="en-US" dirty="0">
                <a:ea typeface="+mn-lt"/>
                <a:cs typeface="+mn-lt"/>
              </a:rPr>
              <a:t> structural .</a:t>
            </a: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Validarea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geometrice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elemente</a:t>
            </a:r>
            <a:r>
              <a:rPr lang="en-US" dirty="0">
                <a:ea typeface="+mn-lt"/>
                <a:cs typeface="+mn-lt"/>
              </a:rPr>
              <a:t> finite (FEM).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Verificarea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integrității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structurale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tipuri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analize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Free–free (SOL 103).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Free–constraint (SOL 103).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Statică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liniară</a:t>
            </a:r>
            <a:r>
              <a:rPr lang="en-US" dirty="0">
                <a:ea typeface="+mn-lt"/>
                <a:cs typeface="+mn-lt"/>
              </a:rPr>
              <a:t> (SOL 101).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7437D-3ACF-A718-5290-FFB81999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Modelarea si Idealizarea Geometrica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882D9E-32EB-9E40-7AEA-2A183812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b="1" err="1">
                <a:ea typeface="+mn-lt"/>
                <a:cs typeface="+mn-lt"/>
              </a:rPr>
              <a:t>Proces</a:t>
            </a:r>
            <a:r>
              <a:rPr lang="en-US" sz="2200" b="1">
                <a:ea typeface="+mn-lt"/>
                <a:cs typeface="+mn-lt"/>
              </a:rPr>
              <a:t>: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Extragerea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componentelor</a:t>
            </a:r>
            <a:r>
              <a:rPr lang="en-US" sz="2200">
                <a:ea typeface="+mn-lt"/>
                <a:cs typeface="+mn-lt"/>
              </a:rPr>
              <a:t> din </a:t>
            </a:r>
            <a:r>
              <a:rPr lang="en-US" sz="2200" err="1">
                <a:ea typeface="+mn-lt"/>
                <a:cs typeface="+mn-lt"/>
              </a:rPr>
              <a:t>ansamblul</a:t>
            </a:r>
            <a:r>
              <a:rPr lang="en-US" sz="2200">
                <a:ea typeface="+mn-lt"/>
                <a:cs typeface="+mn-lt"/>
              </a:rPr>
              <a:t> Formula Student </a:t>
            </a:r>
            <a:r>
              <a:rPr lang="en-US" sz="2200" err="1">
                <a:ea typeface="+mn-lt"/>
                <a:cs typeface="+mn-lt"/>
              </a:rPr>
              <a:t>și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idealizarea</a:t>
            </a:r>
            <a:r>
              <a:rPr lang="en-US" sz="2200">
                <a:ea typeface="+mn-lt"/>
                <a:cs typeface="+mn-lt"/>
              </a:rPr>
              <a:t> lor </a:t>
            </a:r>
            <a:r>
              <a:rPr lang="en-US" sz="2200" err="1">
                <a:ea typeface="+mn-lt"/>
                <a:cs typeface="+mn-lt"/>
              </a:rPr>
              <a:t>pentru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eficiență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numerică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/>
          </a:p>
          <a:p>
            <a:pPr marL="0" indent="0">
              <a:buNone/>
            </a:pPr>
            <a:r>
              <a:rPr lang="en-US" sz="2200" b="1" err="1">
                <a:ea typeface="+mn-lt"/>
                <a:cs typeface="+mn-lt"/>
              </a:rPr>
              <a:t>Operații</a:t>
            </a:r>
            <a:r>
              <a:rPr lang="en-US" sz="2200" b="1">
                <a:ea typeface="+mn-lt"/>
                <a:cs typeface="+mn-lt"/>
              </a:rPr>
              <a:t> </a:t>
            </a:r>
            <a:r>
              <a:rPr lang="en-US" sz="2200" b="1" err="1">
                <a:ea typeface="+mn-lt"/>
                <a:cs typeface="+mn-lt"/>
              </a:rPr>
              <a:t>principale</a:t>
            </a:r>
            <a:r>
              <a:rPr lang="en-US" sz="2200" b="1">
                <a:ea typeface="+mn-lt"/>
                <a:cs typeface="+mn-lt"/>
              </a:rPr>
              <a:t>:</a:t>
            </a:r>
            <a:endParaRPr lang="en-US" sz="2200"/>
          </a:p>
          <a:p>
            <a:r>
              <a:rPr lang="en-US" sz="2200" b="1" err="1">
                <a:ea typeface="+mn-lt"/>
                <a:cs typeface="+mn-lt"/>
              </a:rPr>
              <a:t>Midsurface</a:t>
            </a:r>
            <a:r>
              <a:rPr lang="en-US" sz="2200" b="1">
                <a:ea typeface="+mn-lt"/>
                <a:cs typeface="+mn-lt"/>
              </a:rPr>
              <a:t>: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Utilizarea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suprafețelor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mediane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pentru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elemente</a:t>
            </a:r>
            <a:r>
              <a:rPr lang="en-US" sz="2200">
                <a:ea typeface="+mn-lt"/>
                <a:cs typeface="+mn-lt"/>
              </a:rPr>
              <a:t> de tip shell (</a:t>
            </a:r>
            <a:r>
              <a:rPr lang="en-US" sz="2200" err="1">
                <a:ea typeface="+mn-lt"/>
                <a:cs typeface="+mn-lt"/>
              </a:rPr>
              <a:t>pereți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subțiri</a:t>
            </a:r>
            <a:r>
              <a:rPr lang="en-US" sz="2200">
                <a:ea typeface="+mn-lt"/>
                <a:cs typeface="+mn-lt"/>
              </a:rPr>
              <a:t>).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Extend &amp; Trim Sheet: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Refacerea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continuității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și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eliminarea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materialului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în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exces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8162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61468-507C-FE2E-40E5-B6CD3809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Ansamblul componentelor initiale</a:t>
            </a:r>
          </a:p>
        </p:txBody>
      </p:sp>
      <p:pic>
        <p:nvPicPr>
          <p:cNvPr id="4" name="Content Placeholder 3" descr="A black metal object with holes&#10;&#10;AI-generated content may be incorrect.">
            <a:extLst>
              <a:ext uri="{FF2B5EF4-FFF2-40B4-BE49-F238E27FC236}">
                <a16:creationId xmlns:a16="http://schemas.microsoft.com/office/drawing/2014/main" id="{F51C1D1A-3E93-55B4-F6F6-5EC237370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75244"/>
            <a:ext cx="6780700" cy="41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2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17621-6BBF-4024-8F26-88026336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Ansamblul</a:t>
            </a: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componentelor</a:t>
            </a: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dirty="0">
                <a:solidFill>
                  <a:srgbClr val="FFFFFF"/>
                </a:solidFill>
              </a:rPr>
              <a:t> </a:t>
            </a:r>
            <a:r>
              <a:rPr lang="en-US" sz="3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idealizat</a:t>
            </a:r>
            <a:endParaRPr lang="en-US" sz="3100" kern="1200" dirty="0" err="1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Content Placeholder 3" descr="A blue and red drawing of a metal object&#10;&#10;AI-generated content may be incorrect.">
            <a:extLst>
              <a:ext uri="{FF2B5EF4-FFF2-40B4-BE49-F238E27FC236}">
                <a16:creationId xmlns:a16="http://schemas.microsoft.com/office/drawing/2014/main" id="{8EEA697F-1F58-5B01-AB34-8757701E0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56217"/>
            <a:ext cx="6780700" cy="39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0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6BFB9-4FC0-9D42-4070-294871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Proprietatile materialului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869F-60C1-E7D4-CEC5-A77553BCA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Material:</a:t>
            </a:r>
            <a:r>
              <a:rPr lang="en-US" dirty="0">
                <a:ea typeface="+mn-lt"/>
                <a:cs typeface="+mn-lt"/>
              </a:rPr>
              <a:t> Aliaj de </a:t>
            </a:r>
            <a:r>
              <a:rPr lang="en-US" dirty="0" err="1">
                <a:ea typeface="+mn-lt"/>
                <a:cs typeface="+mn-lt"/>
              </a:rPr>
              <a:t>Aluminiu</a:t>
            </a:r>
            <a:r>
              <a:rPr lang="en-US" dirty="0">
                <a:ea typeface="+mn-lt"/>
                <a:cs typeface="+mn-lt"/>
              </a:rPr>
              <a:t> Al 2014 (</a:t>
            </a:r>
            <a:r>
              <a:rPr lang="en-US" dirty="0" err="1">
                <a:ea typeface="+mn-lt"/>
                <a:cs typeface="+mn-lt"/>
              </a:rPr>
              <a:t>omogen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izotrop</a:t>
            </a:r>
            <a:r>
              <a:rPr lang="en-US" dirty="0">
                <a:ea typeface="+mn-lt"/>
                <a:cs typeface="+mn-lt"/>
              </a:rPr>
              <a:t>, elastic </a:t>
            </a:r>
            <a:r>
              <a:rPr lang="en-US" dirty="0" err="1">
                <a:ea typeface="+mn-lt"/>
                <a:cs typeface="+mn-lt"/>
              </a:rPr>
              <a:t>liniar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Proprietăți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mecanice</a:t>
            </a:r>
            <a:r>
              <a:rPr lang="en-US" b="1" dirty="0">
                <a:ea typeface="+mn-lt"/>
                <a:cs typeface="+mn-lt"/>
              </a:rPr>
              <a:t> (20°C):</a:t>
            </a:r>
            <a:endParaRPr lang="en-US" dirty="0"/>
          </a:p>
          <a:p>
            <a:pPr>
              <a:buFont typeface="Arial"/>
            </a:pPr>
            <a:r>
              <a:rPr lang="en-US" dirty="0"/>
              <a:t>Modul de </a:t>
            </a:r>
            <a:r>
              <a:rPr lang="en-US" dirty="0" err="1"/>
              <a:t>elasticitate</a:t>
            </a:r>
            <a:r>
              <a:rPr lang="en-US" dirty="0"/>
              <a:t>: E = 73.1 </a:t>
            </a:r>
            <a:r>
              <a:rPr lang="en-US" dirty="0" err="1"/>
              <a:t>GPa</a:t>
            </a:r>
            <a:r>
              <a:rPr lang="en-US" dirty="0"/>
              <a:t>.</a:t>
            </a:r>
          </a:p>
          <a:p>
            <a:r>
              <a:rPr lang="en-US" dirty="0" err="1">
                <a:ea typeface="+mn-lt"/>
                <a:cs typeface="+mn-lt"/>
              </a:rPr>
              <a:t>Limita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curgere</a:t>
            </a:r>
            <a:r>
              <a:rPr lang="en-US" dirty="0">
                <a:ea typeface="+mn-lt"/>
                <a:cs typeface="+mn-lt"/>
              </a:rPr>
              <a:t>: R_p0.2 = 394 MPa.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85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74D2D-CB61-6BFA-EA39-07D7CF5A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Discretizarea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3B5F-8F00-A048-B110-DC4C597F7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Tip elemente:</a:t>
            </a:r>
            <a:r>
              <a:rPr lang="en-US" sz="1700">
                <a:ea typeface="+mn-lt"/>
                <a:cs typeface="+mn-lt"/>
              </a:rPr>
              <a:t> 2D Shell (triunghiulare) pentru geometrii complexe.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Tehnici utilizate:</a:t>
            </a:r>
            <a:endParaRPr lang="en-US" sz="1700"/>
          </a:p>
          <a:p>
            <a:pPr lvl="1"/>
            <a:r>
              <a:rPr lang="en-US" sz="1700" b="1">
                <a:ea typeface="+mn-lt"/>
                <a:cs typeface="+mn-lt"/>
              </a:rPr>
              <a:t>Mesh Mating:</a:t>
            </a:r>
            <a:r>
              <a:rPr lang="en-US" sz="1700">
                <a:ea typeface="+mn-lt"/>
                <a:cs typeface="+mn-lt"/>
              </a:rPr>
              <a:t> Asigurarea continuității nodurilor între componente.</a:t>
            </a:r>
            <a:endParaRPr lang="en-US" sz="1700"/>
          </a:p>
          <a:p>
            <a:pPr lvl="1"/>
            <a:r>
              <a:rPr lang="en-US" sz="1700" b="1">
                <a:ea typeface="+mn-lt"/>
                <a:cs typeface="+mn-lt"/>
              </a:rPr>
              <a:t>Circular si Mesh Imprint:</a:t>
            </a:r>
            <a:r>
              <a:rPr lang="en-US" sz="1700">
                <a:ea typeface="+mn-lt"/>
                <a:cs typeface="+mn-lt"/>
              </a:rPr>
              <a:t> Discretizare uniformă în jurul orificiilor de prindere.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Dimensiune elemente:</a:t>
            </a:r>
            <a:r>
              <a:rPr lang="en-US" sz="1700">
                <a:ea typeface="+mn-lt"/>
                <a:cs typeface="+mn-lt"/>
              </a:rPr>
              <a:t> 1 – 3 mm.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Complexitate:</a:t>
            </a:r>
            <a:r>
              <a:rPr lang="en-US" sz="1700">
                <a:ea typeface="+mn-lt"/>
                <a:cs typeface="+mn-lt"/>
              </a:rPr>
              <a:t> Peste 74.000 de noduri </a:t>
            </a:r>
            <a:br>
              <a:rPr lang="en-US" sz="1700"/>
            </a:br>
            <a:r>
              <a:rPr lang="en-US" sz="1700">
                <a:ea typeface="+mn-lt"/>
                <a:cs typeface="+mn-lt"/>
              </a:rPr>
              <a:t>si peste 30.000 de elemente în total pentru ambele piese.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36493-1320-5A80-0DED-6A7345BB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96" r="19304" b="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3C701-E2F3-D2BD-7AD7-792B6542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Discretizare</a:t>
            </a:r>
          </a:p>
        </p:txBody>
      </p:sp>
      <p:pic>
        <p:nvPicPr>
          <p:cNvPr id="4" name="Content Placeholder 3" descr="A green object with holes&#10;&#10;AI-generated content may be incorrect.">
            <a:extLst>
              <a:ext uri="{FF2B5EF4-FFF2-40B4-BE49-F238E27FC236}">
                <a16:creationId xmlns:a16="http://schemas.microsoft.com/office/drawing/2014/main" id="{34E8DCC5-2591-1593-AD1E-DDB965A86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56025"/>
            <a:ext cx="6780700" cy="394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4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D1334-2276-B646-2850-A11531B1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 Analiza Modală (Free-Free vs. Free-Constraint)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DDE80-75DC-B6ED-C1DA-B2380064D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Free-Free: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Primele</a:t>
            </a:r>
            <a:r>
              <a:rPr lang="en-US" dirty="0">
                <a:ea typeface="+mn-lt"/>
                <a:cs typeface="+mn-lt"/>
              </a:rPr>
              <a:t> 6 </a:t>
            </a:r>
            <a:r>
              <a:rPr lang="en-US" dirty="0" err="1">
                <a:ea typeface="+mn-lt"/>
                <a:cs typeface="+mn-lt"/>
              </a:rPr>
              <a:t>moduri</a:t>
            </a:r>
            <a:r>
              <a:rPr lang="en-US" dirty="0">
                <a:ea typeface="+mn-lt"/>
                <a:cs typeface="+mn-lt"/>
              </a:rPr>
              <a:t> au </a:t>
            </a:r>
            <a:r>
              <a:rPr lang="en-US" dirty="0" err="1">
                <a:ea typeface="+mn-lt"/>
                <a:cs typeface="+mn-lt"/>
              </a:rPr>
              <a:t>frecvențe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aprox</a:t>
            </a:r>
            <a:r>
              <a:rPr lang="en-US" dirty="0">
                <a:ea typeface="+mn-lt"/>
                <a:cs typeface="+mn-lt"/>
              </a:rPr>
              <a:t>. 0 (</a:t>
            </a:r>
            <a:r>
              <a:rPr lang="en-US" dirty="0" err="1">
                <a:ea typeface="+mn-lt"/>
                <a:cs typeface="+mn-lt"/>
              </a:rPr>
              <a:t>mișcări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corp</a:t>
            </a:r>
            <a:r>
              <a:rPr lang="en-US" dirty="0">
                <a:ea typeface="+mn-lt"/>
                <a:cs typeface="+mn-lt"/>
              </a:rPr>
              <a:t> rigid), </a:t>
            </a:r>
            <a:r>
              <a:rPr lang="en-US" dirty="0" err="1">
                <a:ea typeface="+mn-lt"/>
                <a:cs typeface="+mn-lt"/>
              </a:rPr>
              <a:t>validând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rețeaua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Free-Constraint: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Utilizarea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constrângerilor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noTrans</a:t>
            </a:r>
            <a:r>
              <a:rPr lang="en-US" dirty="0">
                <a:ea typeface="+mn-lt"/>
                <a:cs typeface="+mn-lt"/>
              </a:rPr>
              <a:t>" (</a:t>
            </a:r>
            <a:r>
              <a:rPr lang="en-US" dirty="0" err="1">
                <a:ea typeface="+mn-lt"/>
                <a:cs typeface="+mn-lt"/>
              </a:rPr>
              <a:t>simulare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prindere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articulată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Comparație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Constrângerea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crește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rigiditatea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elimină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modurile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rigide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rezultând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frecvențe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elastice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ridicate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7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CE1DA53-9811-4831-9BFB-3E8658F08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3745-24ED-6EEA-41E8-176376B6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2906"/>
            <a:ext cx="5162891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Free-Free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24C601-5AA5-158B-C536-70B5474D5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10" y="552906"/>
            <a:ext cx="4992906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3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15C4F15A-F308-85D7-E44E-34E1A160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r="1" b="6158"/>
          <a:stretch>
            <a:fillRect/>
          </a:stretch>
        </p:blipFill>
        <p:spPr>
          <a:xfrm>
            <a:off x="182881" y="2405149"/>
            <a:ext cx="11834494" cy="42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9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E1DA53-9811-4831-9BFB-3E8658F08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B35E6-6EC8-0C89-5F70-9DC8CF6E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2906"/>
            <a:ext cx="5162891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Free-Constraint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0A5191-F244-AD2B-0395-1E8EAB6BC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10" y="552906"/>
            <a:ext cx="4992906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3" descr="A computer screen shot of a device&#10;&#10;AI-generated content may be incorrect.">
            <a:extLst>
              <a:ext uri="{FF2B5EF4-FFF2-40B4-BE49-F238E27FC236}">
                <a16:creationId xmlns:a16="http://schemas.microsoft.com/office/drawing/2014/main" id="{C96E1779-C9B9-030A-74E5-E2DCE3B56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29" r="1" b="624"/>
          <a:stretch>
            <a:fillRect/>
          </a:stretch>
        </p:blipFill>
        <p:spPr>
          <a:xfrm>
            <a:off x="182881" y="2405149"/>
            <a:ext cx="11834494" cy="42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46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1513D-21C1-41A9-5E22-6DCB7D9B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>
                <a:ea typeface="+mj-lt"/>
                <a:cs typeface="+mj-lt"/>
              </a:rPr>
              <a:t>Analiza Statică Liniară</a:t>
            </a:r>
            <a:endParaRPr lang="en-US" sz="42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C440-5488-96F2-F68A-65D815BC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92327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err="1">
                <a:ea typeface="+mn-lt"/>
                <a:cs typeface="+mn-lt"/>
              </a:rPr>
              <a:t>Încărcări</a:t>
            </a:r>
            <a:r>
              <a:rPr lang="en-US" sz="2200" b="1" dirty="0">
                <a:ea typeface="+mn-lt"/>
                <a:cs typeface="+mn-lt"/>
              </a:rPr>
              <a:t>:</a:t>
            </a:r>
            <a:r>
              <a:rPr lang="en-US" sz="2200" dirty="0">
                <a:ea typeface="+mn-lt"/>
                <a:cs typeface="+mn-lt"/>
              </a:rPr>
              <a:t> Moment de 1084 Nm (per </a:t>
            </a:r>
            <a:r>
              <a:rPr lang="en-US" sz="2200" err="1">
                <a:ea typeface="+mn-lt"/>
                <a:cs typeface="+mn-lt"/>
              </a:rPr>
              <a:t>flanșă</a:t>
            </a:r>
            <a:r>
              <a:rPr lang="en-US" sz="2200" dirty="0">
                <a:ea typeface="+mn-lt"/>
                <a:cs typeface="+mn-lt"/>
              </a:rPr>
              <a:t>),</a:t>
            </a:r>
            <a:r>
              <a:rPr lang="en-US" sz="2200" err="1">
                <a:ea typeface="+mn-lt"/>
                <a:cs typeface="+mn-lt"/>
              </a:rPr>
              <a:t>constrangere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fixa</a:t>
            </a:r>
            <a:r>
              <a:rPr lang="en-US" sz="2200" dirty="0">
                <a:ea typeface="+mn-lt"/>
                <a:cs typeface="+mn-lt"/>
              </a:rPr>
              <a:t> pe </a:t>
            </a:r>
            <a:r>
              <a:rPr lang="en-US" sz="2200" err="1">
                <a:ea typeface="+mn-lt"/>
                <a:cs typeface="+mn-lt"/>
              </a:rPr>
              <a:t>toate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gaurile</a:t>
            </a:r>
            <a:r>
              <a:rPr lang="en-US" sz="2200" dirty="0">
                <a:ea typeface="+mn-lt"/>
                <a:cs typeface="+mn-lt"/>
              </a:rPr>
              <a:t> de </a:t>
            </a:r>
            <a:r>
              <a:rPr lang="en-US" sz="2200" err="1">
                <a:ea typeface="+mn-lt"/>
                <a:cs typeface="+mn-lt"/>
              </a:rPr>
              <a:t>prindere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și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presiune</a:t>
            </a:r>
            <a:r>
              <a:rPr lang="en-US" sz="2200" dirty="0">
                <a:ea typeface="+mn-lt"/>
                <a:cs typeface="+mn-lt"/>
              </a:rPr>
              <a:t> de 0.312 MPa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latin typeface="Aptos"/>
                <a:ea typeface="+mn-lt"/>
                <a:cs typeface="+mn-lt"/>
              </a:rPr>
              <a:t>(</a:t>
            </a:r>
            <a:r>
              <a:rPr lang="en-US" sz="2200" dirty="0" err="1">
                <a:latin typeface="Aptos"/>
                <a:ea typeface="+mn-lt"/>
                <a:cs typeface="+mn-lt"/>
              </a:rPr>
              <a:t>suprafață</a:t>
            </a:r>
            <a:r>
              <a:rPr lang="en-US" sz="2200" dirty="0">
                <a:latin typeface="Aptos"/>
                <a:ea typeface="+mn-lt"/>
                <a:cs typeface="+mn-lt"/>
              </a:rPr>
              <a:t> de 12</a:t>
            </a:r>
            <a:r>
              <a:rPr lang="en-US" sz="2200" dirty="0">
                <a:latin typeface="Aptos"/>
                <a:ea typeface="+mn-lt"/>
                <a:cs typeface="Times New Roman"/>
              </a:rPr>
              <a:t> </a:t>
            </a:r>
            <a:r>
              <a:rPr lang="en-US" sz="2200" dirty="0">
                <a:latin typeface="Aptos"/>
                <a:ea typeface="+mn-lt"/>
                <a:cs typeface="+mn-lt"/>
              </a:rPr>
              <a:t>640</a:t>
            </a:r>
            <a:r>
              <a:rPr lang="en-US" sz="2200" dirty="0">
                <a:latin typeface="Aptos"/>
                <a:ea typeface="+mn-lt"/>
                <a:cs typeface="Times New Roman"/>
              </a:rPr>
              <a:t> </a:t>
            </a:r>
            <a:r>
              <a:rPr lang="en-US" sz="2200" dirty="0">
                <a:latin typeface="Aptos"/>
                <a:ea typeface="+mn-lt"/>
                <a:cs typeface="+mn-lt"/>
              </a:rPr>
              <a:t>mm²,</a:t>
            </a:r>
          </a:p>
          <a:p>
            <a:pPr marL="0" indent="0">
              <a:buNone/>
            </a:pPr>
            <a:r>
              <a:rPr lang="en-US" sz="2200" dirty="0" err="1">
                <a:latin typeface="Aptos"/>
              </a:rPr>
              <a:t>forta</a:t>
            </a:r>
            <a:r>
              <a:rPr lang="en-US" sz="2200" dirty="0">
                <a:latin typeface="Aptos"/>
              </a:rPr>
              <a:t> de 3942 N). </a:t>
            </a:r>
          </a:p>
          <a:p>
            <a:endParaRPr lang="en-US" sz="2200"/>
          </a:p>
        </p:txBody>
      </p:sp>
      <p:pic>
        <p:nvPicPr>
          <p:cNvPr id="4" name="Picture 3" descr="A green object with red dots&#10;&#10;AI-generated content may be incorrect.">
            <a:extLst>
              <a:ext uri="{FF2B5EF4-FFF2-40B4-BE49-F238E27FC236}">
                <a16:creationId xmlns:a16="http://schemas.microsoft.com/office/drawing/2014/main" id="{0E7D4D93-58E7-3E76-A61B-46F41DD8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18466"/>
            <a:ext cx="6903720" cy="362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34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4DC55-897E-B307-A5C8-1C955876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 sz="3000"/>
              <a:t>Displacement Analiza Statica Liniara- 2mm</a:t>
            </a:r>
          </a:p>
        </p:txBody>
      </p:sp>
      <p:pic>
        <p:nvPicPr>
          <p:cNvPr id="4" name="Picture 3" descr="A computer screen shot of a rainbow colored object&#10;&#10;AI-generated content may be incorrect.">
            <a:extLst>
              <a:ext uri="{FF2B5EF4-FFF2-40B4-BE49-F238E27FC236}">
                <a16:creationId xmlns:a16="http://schemas.microsoft.com/office/drawing/2014/main" id="{4AAB0F6B-FE4E-268D-54DE-7CBCF0B3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20" r="-3" b="10663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85DB4-4E7E-C364-6452-FD4DCDE9B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Rezultate critice:</a:t>
            </a:r>
            <a:endParaRPr lang="en-US" sz="2200"/>
          </a:p>
          <a:p>
            <a:r>
              <a:rPr lang="en-US" sz="2200"/>
              <a:t>Displacement maxim:</a:t>
            </a:r>
            <a:r>
              <a:rPr lang="en-US" sz="2200" b="1"/>
              <a:t>6,123 mm</a:t>
            </a:r>
            <a:r>
              <a:rPr lang="en-US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3790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32D24-F6AB-D420-7BB1-6D50E17D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 sz="3000" dirty="0"/>
              <a:t>Von Mises Analiza </a:t>
            </a:r>
            <a:r>
              <a:rPr lang="en-US" sz="3000" dirty="0" err="1"/>
              <a:t>Statica</a:t>
            </a:r>
            <a:r>
              <a:rPr lang="en-US" sz="3000" dirty="0"/>
              <a:t> </a:t>
            </a:r>
            <a:r>
              <a:rPr lang="en-US" sz="3000" dirty="0" err="1"/>
              <a:t>Liniara</a:t>
            </a:r>
            <a:r>
              <a:rPr lang="en-US" sz="3000" dirty="0"/>
              <a:t> –2mm</a:t>
            </a:r>
          </a:p>
        </p:txBody>
      </p:sp>
      <p:pic>
        <p:nvPicPr>
          <p:cNvPr id="4" name="Picture 3" descr="A computer screen shot of a blue surface&#10;&#10;AI-generated content may be incorrect.">
            <a:extLst>
              <a:ext uri="{FF2B5EF4-FFF2-40B4-BE49-F238E27FC236}">
                <a16:creationId xmlns:a16="http://schemas.microsoft.com/office/drawing/2014/main" id="{84891131-3931-D01F-5B6B-255C53D4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90" r="1" b="147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E44A5-E30E-9C7C-6D09-AA9570DA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Rezultate</a:t>
            </a:r>
            <a:r>
              <a:rPr lang="en-US" sz="2200" b="1" dirty="0"/>
              <a:t> </a:t>
            </a:r>
            <a:r>
              <a:rPr lang="en-US" sz="2200" b="1" dirty="0" err="1"/>
              <a:t>critice</a:t>
            </a:r>
            <a:r>
              <a:rPr lang="en-US" sz="2200" b="1" dirty="0"/>
              <a:t>:</a:t>
            </a:r>
            <a:endParaRPr lang="en-US" sz="2200" dirty="0"/>
          </a:p>
          <a:p>
            <a:r>
              <a:rPr lang="en-US" sz="2200">
                <a:ea typeface="+mn-lt"/>
                <a:cs typeface="+mn-lt"/>
              </a:rPr>
              <a:t>Tensiune Von Mises: </a:t>
            </a:r>
            <a:r>
              <a:rPr lang="en-US" sz="2200" b="1">
                <a:ea typeface="+mn-lt"/>
                <a:cs typeface="+mn-lt"/>
              </a:rPr>
              <a:t>3469,95 MPa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246691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8211-5774-E963-7FB4-1C991504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Optimizare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2D58-B852-E3FD-1F30-1933CFEE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 err="1"/>
              <a:t>Creșterea</a:t>
            </a:r>
            <a:r>
              <a:rPr lang="en-US" dirty="0"/>
              <a:t> </a:t>
            </a:r>
            <a:r>
              <a:rPr lang="en-US" dirty="0" err="1"/>
              <a:t>Grosimii</a:t>
            </a:r>
            <a:r>
              <a:rPr lang="en-US" dirty="0"/>
              <a:t> la 12mm.</a:t>
            </a:r>
          </a:p>
          <a:p>
            <a:pPr marL="0" indent="0">
              <a:buNone/>
            </a:pPr>
            <a:r>
              <a:rPr lang="en-US" dirty="0" err="1"/>
              <a:t>Deplasamentul</a:t>
            </a:r>
            <a:r>
              <a:rPr lang="en-US" dirty="0">
                <a:ea typeface="+mn-lt"/>
                <a:cs typeface="+mn-lt"/>
              </a:rPr>
              <a:t> maxim a </a:t>
            </a:r>
            <a:r>
              <a:rPr lang="en-US" dirty="0" err="1">
                <a:ea typeface="+mn-lt"/>
                <a:cs typeface="+mn-lt"/>
              </a:rPr>
              <a:t>scăzut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b="1" dirty="0">
                <a:ea typeface="+mn-lt"/>
                <a:cs typeface="+mn-lt"/>
              </a:rPr>
              <a:t>0,2 mm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Tensiunea</a:t>
            </a:r>
            <a:r>
              <a:rPr lang="en-US" dirty="0">
                <a:ea typeface="+mn-lt"/>
                <a:cs typeface="+mn-lt"/>
              </a:rPr>
              <a:t> Von Mises a </a:t>
            </a:r>
            <a:r>
              <a:rPr lang="en-US" dirty="0" err="1">
                <a:ea typeface="+mn-lt"/>
                <a:cs typeface="+mn-lt"/>
              </a:rPr>
              <a:t>scăzut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b="1" dirty="0">
                <a:ea typeface="+mn-lt"/>
                <a:cs typeface="+mn-lt"/>
              </a:rPr>
              <a:t>146 MPa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Factor de </a:t>
            </a:r>
            <a:r>
              <a:rPr lang="en-US" b="1" dirty="0" err="1">
                <a:ea typeface="+mn-lt"/>
                <a:cs typeface="+mn-lt"/>
              </a:rPr>
              <a:t>siguranță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Aproximativ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2,7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indicând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structură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sigură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7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683F6-1BD2-06DA-A769-B1B93408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 sz="3000"/>
              <a:t>Displacement Analiza Statica Liniara -12mm</a:t>
            </a:r>
          </a:p>
        </p:txBody>
      </p:sp>
      <p:pic>
        <p:nvPicPr>
          <p:cNvPr id="4" name="Content Placeholder 3" descr="A computer screen shot of a rainbow colored object&#10;&#10;AI-generated content may be incorrect.">
            <a:extLst>
              <a:ext uri="{FF2B5EF4-FFF2-40B4-BE49-F238E27FC236}">
                <a16:creationId xmlns:a16="http://schemas.microsoft.com/office/drawing/2014/main" id="{E4049EC1-B96F-A087-35C9-A1C56C53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16" r="-3" b="5368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6BA8D2-9E2C-64E5-AE0E-562D66F4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711276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F4995-FC10-655C-C754-98B47F67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 sz="3000"/>
              <a:t>Von Mises Analiza Static Liniara -12mm 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B77A43-5756-0FE8-CEEE-18ABC0152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21" r="-3" b="-3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61A229-B6AC-6900-D09E-42F8AE3C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20487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omputer screen shot of a rainbow colored object&#10;&#10;AI-generated content may be incorrect.">
            <a:extLst>
              <a:ext uri="{FF2B5EF4-FFF2-40B4-BE49-F238E27FC236}">
                <a16:creationId xmlns:a16="http://schemas.microsoft.com/office/drawing/2014/main" id="{9AF81573-71A8-E3B0-F3A8-B924BA04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86" r="1" b="513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E637DD-0C4A-6E60-D647-486AF6765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Displacement – element size de 5mm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6ADADC-0CB3-CB40-7841-C381FE22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247" y="4551037"/>
            <a:ext cx="4926411" cy="1509935"/>
          </a:xfrm>
        </p:spPr>
        <p:txBody>
          <a:bodyPr anchor="ctr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834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6E9A8A-4CBB-1CDE-058F-7861C4F80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1" r="1" b="3459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9FCB49-C541-9086-8A2A-E0F868E7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Von Mises – element size de 5mm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ACE3BA-6CB0-1749-4C99-89D3BA440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247" y="4551037"/>
            <a:ext cx="4926411" cy="1509935"/>
          </a:xfrm>
        </p:spPr>
        <p:txBody>
          <a:bodyPr anchor="ctr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682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C2D58-D1FF-4568-B16A-0347C8E2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Concluzii și Analiză Critică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739A-6C24-36F3-ECD4-8BBC52C8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ea typeface="+mn-lt"/>
                <a:cs typeface="+mn-lt"/>
              </a:rPr>
              <a:t>Importanța mesh-ului:</a:t>
            </a:r>
            <a:r>
              <a:rPr lang="en-US">
                <a:ea typeface="+mn-lt"/>
                <a:cs typeface="+mn-lt"/>
              </a:rPr>
              <a:t> Un mesh prea grosier (5 mm) alterează semnificativ precizia rezultatelor.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Validare:</a:t>
            </a:r>
            <a:r>
              <a:rPr lang="en-US">
                <a:ea typeface="+mn-lt"/>
                <a:cs typeface="+mn-lt"/>
              </a:rPr>
              <a:t> Grosimea de 12 mm este necesară pentru a menține tensiunile sub limita de curgere.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8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Proiect ASM: Steering lower bracket &amp; fixed flange</vt:lpstr>
      <vt:lpstr>Scopul Analizei</vt:lpstr>
      <vt:lpstr>Modelarea si Idealizarea Geometrica</vt:lpstr>
      <vt:lpstr>Ansamblul componentelor initiale</vt:lpstr>
      <vt:lpstr>Ansamblul componentelor  idealizat</vt:lpstr>
      <vt:lpstr>Proprietatile materialului</vt:lpstr>
      <vt:lpstr>Discretizarea</vt:lpstr>
      <vt:lpstr>Discretizare</vt:lpstr>
      <vt:lpstr> Analiza Modală (Free-Free vs. Free-Constraint)</vt:lpstr>
      <vt:lpstr>Free-Free</vt:lpstr>
      <vt:lpstr>Free-Constraint</vt:lpstr>
      <vt:lpstr>Analiza Statică Liniară</vt:lpstr>
      <vt:lpstr>Displacement Analiza Statica Liniara- 2mm</vt:lpstr>
      <vt:lpstr>Von Mises Analiza Statica Liniara –2mm</vt:lpstr>
      <vt:lpstr>Optimizare</vt:lpstr>
      <vt:lpstr>Displacement Analiza Statica Liniara -12mm</vt:lpstr>
      <vt:lpstr>Von Mises Analiza Static Liniara -12mm </vt:lpstr>
      <vt:lpstr>Displacement – element size de 5mm</vt:lpstr>
      <vt:lpstr>Von Mises – element size de 5mm</vt:lpstr>
      <vt:lpstr>Concluzii și Analiză Critică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186</cp:revision>
  <dcterms:created xsi:type="dcterms:W3CDTF">2026-01-12T10:28:22Z</dcterms:created>
  <dcterms:modified xsi:type="dcterms:W3CDTF">2026-01-12T12:50:03Z</dcterms:modified>
</cp:coreProperties>
</file>